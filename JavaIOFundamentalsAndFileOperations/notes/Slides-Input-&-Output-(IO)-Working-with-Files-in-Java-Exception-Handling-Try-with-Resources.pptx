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0" r:id="rId2"/>
    <p:sldId id="281" r:id="rId3"/>
  </p:sldIdLst>
  <p:sldSz cx="36576000" cy="20574000"/>
  <p:notesSz cx="6858000" cy="9144000"/>
  <p:defaultTextStyle>
    <a:defPPr marL="0" marR="0" indent="0" algn="l" defTabSz="1369222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696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34230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68461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102691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136922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711528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2053834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239614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273844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2" autoAdjust="0"/>
    <p:restoredTop sz="94660"/>
  </p:normalViewPr>
  <p:slideViewPr>
    <p:cSldViewPr snapToGrid="0">
      <p:cViewPr varScale="1">
        <p:scale>
          <a:sx n="52" d="100"/>
          <a:sy n="52" d="100"/>
        </p:scale>
        <p:origin x="3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830374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1pPr>
    <a:lvl2pPr indent="34230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2pPr>
    <a:lvl3pPr indent="68461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3pPr>
    <a:lvl4pPr indent="102691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4pPr>
    <a:lvl5pPr indent="136922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5pPr>
    <a:lvl6pPr indent="1711528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6pPr>
    <a:lvl7pPr indent="2053834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7pPr>
    <a:lvl8pPr indent="2396140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8pPr>
    <a:lvl9pPr indent="273844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A715-9371-F63C-91F0-6BBE174B8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7A35A-2DE7-C992-4C1C-47A561EBC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859EE-DBA1-F6E0-03A4-CD8C6E3DD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357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534F6-F131-89F1-6871-2203526BF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41674B-393D-2311-747C-0ECC23388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1150B-3CC4-0F46-9852-D7CF7C691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420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4688955" y="1009652"/>
            <a:ext cx="27203402" cy="1310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952500" y="14173202"/>
            <a:ext cx="34671000" cy="30099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952500" y="17278351"/>
            <a:ext cx="34671000" cy="23812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2667000" y="6800852"/>
            <a:ext cx="31242000" cy="69723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19748973" y="1657352"/>
            <a:ext cx="14287502" cy="17259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2476503" y="1657350"/>
            <a:ext cx="15335250" cy="8420100"/>
          </a:xfrm>
          <a:prstGeom prst="rect">
            <a:avLst/>
          </a:prstGeom>
        </p:spPr>
        <p:txBody>
          <a:bodyPr anchor="b"/>
          <a:lstStyle>
            <a:lvl1pPr>
              <a:defRPr sz="12598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2476503" y="10267950"/>
            <a:ext cx="15335250" cy="8648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half" idx="13"/>
          </p:nvPr>
        </p:nvSpPr>
        <p:spPr>
          <a:xfrm>
            <a:off x="19754850" y="4857753"/>
            <a:ext cx="14287500" cy="138112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half" idx="1"/>
          </p:nvPr>
        </p:nvSpPr>
        <p:spPr>
          <a:xfrm>
            <a:off x="2533650" y="4857753"/>
            <a:ext cx="15011400" cy="13811250"/>
          </a:xfrm>
          <a:prstGeom prst="rect">
            <a:avLst/>
          </a:prstGeom>
        </p:spPr>
        <p:txBody>
          <a:bodyPr/>
          <a:lstStyle>
            <a:lvl1pPr marL="838154" indent="-838154">
              <a:spcBef>
                <a:spcPts val="6750"/>
              </a:spcBef>
              <a:defRPr sz="6750"/>
            </a:lvl1pPr>
            <a:lvl2pPr marL="1676310" indent="-838154">
              <a:spcBef>
                <a:spcPts val="6750"/>
              </a:spcBef>
              <a:defRPr sz="6750"/>
            </a:lvl2pPr>
            <a:lvl3pPr marL="2514464" indent="-838154">
              <a:spcBef>
                <a:spcPts val="6750"/>
              </a:spcBef>
              <a:defRPr sz="6750"/>
            </a:lvl3pPr>
            <a:lvl4pPr marL="3352620" indent="-838154">
              <a:spcBef>
                <a:spcPts val="6750"/>
              </a:spcBef>
              <a:defRPr sz="6750"/>
            </a:lvl4pPr>
            <a:lvl5pPr marL="4190774" indent="-838154">
              <a:spcBef>
                <a:spcPts val="6750"/>
              </a:spcBef>
              <a:defRPr sz="67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2533650" y="2667001"/>
            <a:ext cx="31508700" cy="1522095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13"/>
          </p:nvPr>
        </p:nvSpPr>
        <p:spPr>
          <a:xfrm>
            <a:off x="23641053" y="105727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14"/>
          </p:nvPr>
        </p:nvSpPr>
        <p:spPr>
          <a:xfrm>
            <a:off x="23641053" y="16954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idx="15"/>
          </p:nvPr>
        </p:nvSpPr>
        <p:spPr>
          <a:xfrm>
            <a:off x="1809750" y="1695451"/>
            <a:ext cx="21259800" cy="172021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3"/>
          </p:nvPr>
        </p:nvSpPr>
        <p:spPr>
          <a:xfrm>
            <a:off x="3581403" y="13430251"/>
            <a:ext cx="29432250" cy="979755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7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14"/>
          </p:nvPr>
        </p:nvSpPr>
        <p:spPr>
          <a:xfrm>
            <a:off x="3581403" y="9083251"/>
            <a:ext cx="29432250" cy="13026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13"/>
          </p:nvPr>
        </p:nvSpPr>
        <p:spPr>
          <a:xfrm>
            <a:off x="0" y="2"/>
            <a:ext cx="36576000" cy="20574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2533650" y="1428750"/>
            <a:ext cx="31508700" cy="342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2533650" y="4857753"/>
            <a:ext cx="31508700" cy="1381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3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95244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90489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285734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380979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4762244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571469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666714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761959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857204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F1CD8-3248-F304-B9B2-8771C752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EDDDA902-DB36-6136-5407-ADB4AAC5AEB7}"/>
              </a:ext>
            </a:extLst>
          </p:cNvPr>
          <p:cNvSpPr/>
          <p:nvPr/>
        </p:nvSpPr>
        <p:spPr>
          <a:xfrm>
            <a:off x="952498" y="595713"/>
            <a:ext cx="33041096" cy="163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9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Comparing try-with-resources to the traditional try clause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98F947FF-06B2-F215-76EB-08CFC0A415A4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21939F3B-F471-2BA6-AAD2-0A933F919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F7F6E9C1-BCEC-7C08-D816-407957159F93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125CC26E-07DC-7175-386F-4031C3F10C1D}"/>
              </a:ext>
            </a:extLst>
          </p:cNvPr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Exception Handling: Try with Resources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1E095F-27B1-309A-8F26-86251D2D8265}"/>
              </a:ext>
            </a:extLst>
          </p:cNvPr>
          <p:cNvSpPr/>
          <p:nvPr/>
        </p:nvSpPr>
        <p:spPr>
          <a:xfrm>
            <a:off x="952501" y="12914933"/>
            <a:ext cx="34782670" cy="5113574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try-with-resources takes a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colon delimited list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resource variables.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resources in this list must implement 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AutoCloseable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or the Closeable interface.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try-with-resources statement can be used without a finally block, because all resources are automatically closed when this type of try block completes or if it gets an exception.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9AFFF5-D987-42D7-08C7-FF29D3011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44729"/>
              </p:ext>
            </p:extLst>
          </p:nvPr>
        </p:nvGraphicFramePr>
        <p:xfrm>
          <a:off x="952499" y="2745946"/>
          <a:ext cx="34782670" cy="9808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6031">
                  <a:extLst>
                    <a:ext uri="{9D8B030D-6E8A-4147-A177-3AD203B41FA5}">
                      <a16:colId xmlns:a16="http://schemas.microsoft.com/office/drawing/2014/main" val="2844207666"/>
                    </a:ext>
                  </a:extLst>
                </a:gridCol>
                <a:gridCol w="13826639">
                  <a:extLst>
                    <a:ext uri="{9D8B030D-6E8A-4147-A177-3AD203B41FA5}">
                      <a16:colId xmlns:a16="http://schemas.microsoft.com/office/drawing/2014/main" val="1891655341"/>
                    </a:ext>
                  </a:extLst>
                </a:gridCol>
              </a:tblGrid>
              <a:tr h="1035222">
                <a:tc>
                  <a:txBody>
                    <a:bodyPr/>
                    <a:lstStyle/>
                    <a:p>
                      <a:pPr marL="180000" algn="l"/>
                      <a:r>
                        <a:rPr lang="en-US" sz="54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try-with-resources  examples</a:t>
                      </a:r>
                      <a:endParaRPr lang="en-PH" sz="54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54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traditional try clause</a:t>
                      </a: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129174"/>
                  </a:ext>
                </a:extLst>
              </a:tr>
              <a:tr h="8773297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5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5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2545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6262428-7E1F-3F5A-8C68-0C207FAB2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587" y="4097259"/>
            <a:ext cx="20297023" cy="71744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9D5E24-6AC1-D144-503F-A9E4ECAE9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01487" y="4097259"/>
            <a:ext cx="12783442" cy="81307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1B7675-4DDB-1169-BBD8-F8FFAC29BC1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84719" t="10137" r="8706" b="80551"/>
          <a:stretch/>
        </p:blipFill>
        <p:spPr>
          <a:xfrm>
            <a:off x="18492203" y="8446007"/>
            <a:ext cx="1334530" cy="6681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C2D189-6AEE-9141-5C45-437B5621AF9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84577" t="59802" r="12014" b="28725"/>
          <a:stretch/>
        </p:blipFill>
        <p:spPr>
          <a:xfrm>
            <a:off x="20959270" y="9114113"/>
            <a:ext cx="691978" cy="82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243730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8F096-7C58-986C-C6DB-109E4AEB8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>
            <a:extLst>
              <a:ext uri="{FF2B5EF4-FFF2-40B4-BE49-F238E27FC236}">
                <a16:creationId xmlns:a16="http://schemas.microsoft.com/office/drawing/2014/main" id="{39FEA148-074C-0304-7301-7869234FA166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B6D722C2-37B6-201B-BD49-BC176E32C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02E0F190-8B3D-520E-4FB5-121A7B5AED84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BBA698FF-F3AC-79B4-2C51-272996407053}"/>
              </a:ext>
            </a:extLst>
          </p:cNvPr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Exception Handling: Try with Resources</a:t>
            </a:r>
          </a:p>
        </p:txBody>
      </p:sp>
      <p:sp>
        <p:nvSpPr>
          <p:cNvPr id="3" name="Shape 126">
            <a:extLst>
              <a:ext uri="{FF2B5EF4-FFF2-40B4-BE49-F238E27FC236}">
                <a16:creationId xmlns:a16="http://schemas.microsoft.com/office/drawing/2014/main" id="{BE62BB1B-9683-B20B-5E70-9CF7DFF0DB4A}"/>
              </a:ext>
            </a:extLst>
          </p:cNvPr>
          <p:cNvSpPr/>
          <p:nvPr/>
        </p:nvSpPr>
        <p:spPr>
          <a:xfrm>
            <a:off x="952498" y="459786"/>
            <a:ext cx="6997108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Throwable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932290-3488-C3A9-BCDF-17EBE356B1AE}"/>
              </a:ext>
            </a:extLst>
          </p:cNvPr>
          <p:cNvSpPr/>
          <p:nvPr/>
        </p:nvSpPr>
        <p:spPr>
          <a:xfrm>
            <a:off x="952501" y="4285904"/>
            <a:ext cx="21586223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chart shows you which classes are checked, in blue, and unchecked in reddish brown.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6400" dirty="0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Error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class indicates serious problems, that a reasonable application shouldn't try to catch or recover from.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I've already mentioned there are two types of Exceptions, those that subclass from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RuntimeException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those that don't.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hierarchy becomes important for the second variation of a catch clause.</a:t>
            </a:r>
          </a:p>
        </p:txBody>
      </p:sp>
      <p:pic>
        <p:nvPicPr>
          <p:cNvPr id="11" name="Picture 10" descr="A diagram of a computer&#10;&#10;Description automatically generated">
            <a:extLst>
              <a:ext uri="{FF2B5EF4-FFF2-40B4-BE49-F238E27FC236}">
                <a16:creationId xmlns:a16="http://schemas.microsoft.com/office/drawing/2014/main" id="{576D667E-B6DB-2463-90E0-99AE0B6589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3" t="2660" r="1516" b="889"/>
          <a:stretch/>
        </p:blipFill>
        <p:spPr>
          <a:xfrm>
            <a:off x="23057135" y="5186316"/>
            <a:ext cx="12678033" cy="1020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46498"/>
      </p:ext>
    </p:extLst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158</Words>
  <Application>Microsoft Office PowerPoint</Application>
  <PresentationFormat>Custom</PresentationFormat>
  <Paragraphs>15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Helvetica</vt:lpstr>
      <vt:lpstr>Helvetica Light</vt:lpstr>
      <vt:lpstr>Helvetica Neue</vt:lpstr>
      <vt:lpstr>Open Sans</vt:lpstr>
      <vt:lpstr>Roboto Mono</vt:lpstr>
      <vt:lpstr>White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Gigabyte</dc:creator>
  <cp:lastModifiedBy>Keane Hubert Ang</cp:lastModifiedBy>
  <cp:revision>168</cp:revision>
  <dcterms:modified xsi:type="dcterms:W3CDTF">2026-05-14T05:48:23Z</dcterms:modified>
</cp:coreProperties>
</file>