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85" r:id="rId2"/>
    <p:sldId id="286" r:id="rId3"/>
    <p:sldId id="287" r:id="rId4"/>
    <p:sldId id="288" r:id="rId5"/>
    <p:sldId id="289" r:id="rId6"/>
    <p:sldId id="290" r:id="rId7"/>
  </p:sldIdLst>
  <p:sldSz cx="36576000" cy="20574000"/>
  <p:notesSz cx="6858000" cy="9144000"/>
  <p:defaultTextStyle>
    <a:defPPr marL="0" marR="0" indent="0" algn="l" defTabSz="1369222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696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342306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684612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1026916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1369222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711528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2053834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2396140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2738446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E1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32" autoAdjust="0"/>
    <p:restoredTop sz="94660"/>
  </p:normalViewPr>
  <p:slideViewPr>
    <p:cSldViewPr snapToGrid="0">
      <p:cViewPr varScale="1">
        <p:scale>
          <a:sx n="52" d="100"/>
          <a:sy n="52" d="100"/>
        </p:scale>
        <p:origin x="11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8303747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1pPr>
    <a:lvl2pPr indent="342306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2pPr>
    <a:lvl3pPr indent="684612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3pPr>
    <a:lvl4pPr indent="1026916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4pPr>
    <a:lvl5pPr indent="1369222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5pPr>
    <a:lvl6pPr indent="1711528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6pPr>
    <a:lvl7pPr indent="2053834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7pPr>
    <a:lvl8pPr indent="2396140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8pPr>
    <a:lvl9pPr indent="2738446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C800E-EA02-2C76-7117-9CD43C1C9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4C424F-76AF-8841-7DC9-EF256D49A4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7D5BC9-D595-6A53-5680-3DCD690E21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3945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9693D-327F-F88B-CE64-3AE8E1CBD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3F941-689B-9E95-BDF2-8E0364CA2D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63A743-A218-F461-0B68-E4B1BD7935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6053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415C9-1ABF-CCDC-56D6-CFC5E3634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4D330B-4B9A-7F37-2DF7-31E937638A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A8CAF2-CA03-285C-E88B-C50E141952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7372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2F61D-97E3-38E3-E43C-A4248CC0F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2EE127-1EF5-5527-ACFD-E46F7AB484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9BD62B-9D94-04B8-CB5D-0A6C8C3FE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3558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74677-0DAB-C4BE-E806-02E39F646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B12767-B118-2041-2D09-B7C92D0352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CA8EA0-8DA0-86A9-856A-EA6EC509D4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2565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BBAE9-42A5-80A8-0BB3-A278EB0BC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D3C484-13D1-B265-850E-F2CB902524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60AAD1-F991-3B17-A91B-4C62CC076E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953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/>
          </p:cNvSpPr>
          <p:nvPr>
            <p:ph type="pic" idx="13"/>
          </p:nvPr>
        </p:nvSpPr>
        <p:spPr>
          <a:xfrm>
            <a:off x="4688955" y="1009652"/>
            <a:ext cx="27203402" cy="1310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xfrm>
            <a:off x="952500" y="14173202"/>
            <a:ext cx="34671000" cy="30099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Shape 22"/>
          <p:cNvSpPr>
            <a:spLocks noGrp="1"/>
          </p:cNvSpPr>
          <p:nvPr>
            <p:ph type="body" sz="quarter" idx="1"/>
          </p:nvPr>
        </p:nvSpPr>
        <p:spPr>
          <a:xfrm>
            <a:off x="952500" y="17278351"/>
            <a:ext cx="34671000" cy="238125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6600"/>
            </a:lvl1pPr>
            <a:lvl2pPr marL="0" indent="342882" algn="ctr">
              <a:spcBef>
                <a:spcPts val="0"/>
              </a:spcBef>
              <a:buSzTx/>
              <a:buNone/>
              <a:defRPr sz="6600"/>
            </a:lvl2pPr>
            <a:lvl3pPr marL="0" indent="685764" algn="ctr">
              <a:spcBef>
                <a:spcPts val="0"/>
              </a:spcBef>
              <a:buSzTx/>
              <a:buNone/>
              <a:defRPr sz="6600"/>
            </a:lvl3pPr>
            <a:lvl4pPr marL="0" indent="1028644" algn="ctr">
              <a:spcBef>
                <a:spcPts val="0"/>
              </a:spcBef>
              <a:buSzTx/>
              <a:buNone/>
              <a:defRPr sz="6600"/>
            </a:lvl4pPr>
            <a:lvl5pPr marL="0" indent="1371526" algn="ctr">
              <a:spcBef>
                <a:spcPts val="0"/>
              </a:spcBef>
              <a:buSzTx/>
              <a:buNone/>
              <a:defRPr sz="6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hape 2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>
            <a:spLocks noGrp="1"/>
          </p:cNvSpPr>
          <p:nvPr>
            <p:ph type="title"/>
          </p:nvPr>
        </p:nvSpPr>
        <p:spPr>
          <a:xfrm>
            <a:off x="2667000" y="6800852"/>
            <a:ext cx="31242000" cy="69723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hape 3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/>
          </p:cNvSpPr>
          <p:nvPr>
            <p:ph type="pic" sz="half" idx="13"/>
          </p:nvPr>
        </p:nvSpPr>
        <p:spPr>
          <a:xfrm>
            <a:off x="19748973" y="1657352"/>
            <a:ext cx="14287502" cy="172593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Shape 39"/>
          <p:cNvSpPr>
            <a:spLocks noGrp="1"/>
          </p:cNvSpPr>
          <p:nvPr>
            <p:ph type="title"/>
          </p:nvPr>
        </p:nvSpPr>
        <p:spPr>
          <a:xfrm>
            <a:off x="2476503" y="1657350"/>
            <a:ext cx="15335250" cy="8420100"/>
          </a:xfrm>
          <a:prstGeom prst="rect">
            <a:avLst/>
          </a:prstGeom>
        </p:spPr>
        <p:txBody>
          <a:bodyPr anchor="b"/>
          <a:lstStyle>
            <a:lvl1pPr>
              <a:defRPr sz="12598"/>
            </a:lvl1pPr>
          </a:lstStyle>
          <a:p>
            <a:r>
              <a:t>Title Text</a:t>
            </a:r>
          </a:p>
        </p:txBody>
      </p:sp>
      <p:sp>
        <p:nvSpPr>
          <p:cNvPr id="40" name="Shape 40"/>
          <p:cNvSpPr>
            <a:spLocks noGrp="1"/>
          </p:cNvSpPr>
          <p:nvPr>
            <p:ph type="body" sz="quarter" idx="1"/>
          </p:nvPr>
        </p:nvSpPr>
        <p:spPr>
          <a:xfrm>
            <a:off x="2476503" y="10267950"/>
            <a:ext cx="15335250" cy="8648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6600"/>
            </a:lvl1pPr>
            <a:lvl2pPr marL="0" indent="342882" algn="ctr">
              <a:spcBef>
                <a:spcPts val="0"/>
              </a:spcBef>
              <a:buSzTx/>
              <a:buNone/>
              <a:defRPr sz="6600"/>
            </a:lvl2pPr>
            <a:lvl3pPr marL="0" indent="685764" algn="ctr">
              <a:spcBef>
                <a:spcPts val="0"/>
              </a:spcBef>
              <a:buSzTx/>
              <a:buNone/>
              <a:defRPr sz="6600"/>
            </a:lvl3pPr>
            <a:lvl4pPr marL="0" indent="1028644" algn="ctr">
              <a:spcBef>
                <a:spcPts val="0"/>
              </a:spcBef>
              <a:buSzTx/>
              <a:buNone/>
              <a:defRPr sz="6600"/>
            </a:lvl4pPr>
            <a:lvl5pPr marL="0" indent="1371526" algn="ctr">
              <a:spcBef>
                <a:spcPts val="0"/>
              </a:spcBef>
              <a:buSzTx/>
              <a:buNone/>
              <a:defRPr sz="6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hape 4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hape 4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Shape 5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hape 5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>
            <a:spLocks noGrp="1"/>
          </p:cNvSpPr>
          <p:nvPr>
            <p:ph type="pic" sz="half" idx="13"/>
          </p:nvPr>
        </p:nvSpPr>
        <p:spPr>
          <a:xfrm>
            <a:off x="19754850" y="4857753"/>
            <a:ext cx="14287500" cy="1381125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Shape 6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Shape 67"/>
          <p:cNvSpPr>
            <a:spLocks noGrp="1"/>
          </p:cNvSpPr>
          <p:nvPr>
            <p:ph type="body" sz="half" idx="1"/>
          </p:nvPr>
        </p:nvSpPr>
        <p:spPr>
          <a:xfrm>
            <a:off x="2533650" y="4857753"/>
            <a:ext cx="15011400" cy="13811250"/>
          </a:xfrm>
          <a:prstGeom prst="rect">
            <a:avLst/>
          </a:prstGeom>
        </p:spPr>
        <p:txBody>
          <a:bodyPr/>
          <a:lstStyle>
            <a:lvl1pPr marL="838154" indent="-838154">
              <a:spcBef>
                <a:spcPts val="6750"/>
              </a:spcBef>
              <a:defRPr sz="6750"/>
            </a:lvl1pPr>
            <a:lvl2pPr marL="1676310" indent="-838154">
              <a:spcBef>
                <a:spcPts val="6750"/>
              </a:spcBef>
              <a:defRPr sz="6750"/>
            </a:lvl2pPr>
            <a:lvl3pPr marL="2514464" indent="-838154">
              <a:spcBef>
                <a:spcPts val="6750"/>
              </a:spcBef>
              <a:defRPr sz="6750"/>
            </a:lvl3pPr>
            <a:lvl4pPr marL="3352620" indent="-838154">
              <a:spcBef>
                <a:spcPts val="6750"/>
              </a:spcBef>
              <a:defRPr sz="6750"/>
            </a:lvl4pPr>
            <a:lvl5pPr marL="4190774" indent="-838154">
              <a:spcBef>
                <a:spcPts val="6750"/>
              </a:spcBef>
              <a:defRPr sz="675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hape 6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>
            <a:spLocks noGrp="1"/>
          </p:cNvSpPr>
          <p:nvPr>
            <p:ph type="body" idx="1"/>
          </p:nvPr>
        </p:nvSpPr>
        <p:spPr>
          <a:xfrm>
            <a:off x="2533650" y="2667001"/>
            <a:ext cx="31508700" cy="1522095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hape 7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>
            <a:spLocks noGrp="1"/>
          </p:cNvSpPr>
          <p:nvPr>
            <p:ph type="pic" sz="quarter" idx="13"/>
          </p:nvPr>
        </p:nvSpPr>
        <p:spPr>
          <a:xfrm>
            <a:off x="23641053" y="10572751"/>
            <a:ext cx="11106150" cy="832485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Shape 84"/>
          <p:cNvSpPr>
            <a:spLocks noGrp="1"/>
          </p:cNvSpPr>
          <p:nvPr>
            <p:ph type="pic" sz="quarter" idx="14"/>
          </p:nvPr>
        </p:nvSpPr>
        <p:spPr>
          <a:xfrm>
            <a:off x="23641053" y="1695451"/>
            <a:ext cx="11106150" cy="832485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Shape 85"/>
          <p:cNvSpPr>
            <a:spLocks noGrp="1"/>
          </p:cNvSpPr>
          <p:nvPr>
            <p:ph type="pic" idx="15"/>
          </p:nvPr>
        </p:nvSpPr>
        <p:spPr>
          <a:xfrm>
            <a:off x="1809750" y="1695451"/>
            <a:ext cx="21259800" cy="1720215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hape 8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>
            <a:spLocks noGrp="1"/>
          </p:cNvSpPr>
          <p:nvPr>
            <p:ph type="body" sz="quarter" idx="13"/>
          </p:nvPr>
        </p:nvSpPr>
        <p:spPr>
          <a:xfrm>
            <a:off x="3581403" y="13430251"/>
            <a:ext cx="29432250" cy="979755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57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94" name="Shape 94"/>
          <p:cNvSpPr>
            <a:spLocks noGrp="1"/>
          </p:cNvSpPr>
          <p:nvPr>
            <p:ph type="body" sz="quarter" idx="14"/>
          </p:nvPr>
        </p:nvSpPr>
        <p:spPr>
          <a:xfrm>
            <a:off x="3581403" y="9083251"/>
            <a:ext cx="29432250" cy="13026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</a:lvl1pPr>
          </a:lstStyle>
          <a:p>
            <a:r>
              <a:t>“Type a quote here.” </a:t>
            </a:r>
          </a:p>
        </p:txBody>
      </p:sp>
      <p:sp>
        <p:nvSpPr>
          <p:cNvPr id="95" name="Shape 9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/>
          </p:cNvSpPr>
          <p:nvPr>
            <p:ph type="pic" idx="13"/>
          </p:nvPr>
        </p:nvSpPr>
        <p:spPr>
          <a:xfrm>
            <a:off x="0" y="2"/>
            <a:ext cx="36576000" cy="20574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hape 10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2533650" y="1428750"/>
            <a:ext cx="31508700" cy="342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2533650" y="4857753"/>
            <a:ext cx="31508700" cy="1381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17880931" y="19621502"/>
            <a:ext cx="795089" cy="65659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3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 spd="med"/>
  <p:txStyles>
    <p:titleStyle>
      <a:lvl1pPr marL="0" marR="0" indent="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342882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685764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1028644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1371526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714408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205729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240017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2743052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952448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1904898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2857346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3809796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4762244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5714692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6667142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7619590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8572040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342882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685764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1028644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1371526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714408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205729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240017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2743052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C4135-5DAB-7DE0-118B-EE110CBA2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>
            <a:extLst>
              <a:ext uri="{FF2B5EF4-FFF2-40B4-BE49-F238E27FC236}">
                <a16:creationId xmlns:a16="http://schemas.microsoft.com/office/drawing/2014/main" id="{A2F7DD7E-C283-ED56-393E-301B3AD21CF1}"/>
              </a:ext>
            </a:extLst>
          </p:cNvPr>
          <p:cNvSpPr/>
          <p:nvPr/>
        </p:nvSpPr>
        <p:spPr>
          <a:xfrm>
            <a:off x="952498" y="459786"/>
            <a:ext cx="7261603" cy="181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Legacy (io) </a:t>
            </a:r>
          </a:p>
        </p:txBody>
      </p:sp>
      <p:sp>
        <p:nvSpPr>
          <p:cNvPr id="128" name="Shape 128">
            <a:extLst>
              <a:ext uri="{FF2B5EF4-FFF2-40B4-BE49-F238E27FC236}">
                <a16:creationId xmlns:a16="http://schemas.microsoft.com/office/drawing/2014/main" id="{85BD70FD-7B26-E119-90C2-E4A585D4AC48}"/>
              </a:ext>
            </a:extLst>
          </p:cNvPr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>
            <a:extLst>
              <a:ext uri="{FF2B5EF4-FFF2-40B4-BE49-F238E27FC236}">
                <a16:creationId xmlns:a16="http://schemas.microsoft.com/office/drawing/2014/main" id="{D5023340-0CE1-F71C-028C-B3129C138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>
            <a:extLst>
              <a:ext uri="{FF2B5EF4-FFF2-40B4-BE49-F238E27FC236}">
                <a16:creationId xmlns:a16="http://schemas.microsoft.com/office/drawing/2014/main" id="{6AEB2842-E1B0-A119-45AE-9CEE7178B520}"/>
              </a:ext>
            </a:extLst>
          </p:cNvPr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>
            <a:extLst>
              <a:ext uri="{FF2B5EF4-FFF2-40B4-BE49-F238E27FC236}">
                <a16:creationId xmlns:a16="http://schemas.microsoft.com/office/drawing/2014/main" id="{1D2CE666-AF38-E1A3-E2F2-ABA32BC0BE41}"/>
              </a:ext>
            </a:extLst>
          </p:cNvPr>
          <p:cNvSpPr/>
          <p:nvPr/>
        </p:nvSpPr>
        <p:spPr>
          <a:xfrm>
            <a:off x="952500" y="18489726"/>
            <a:ext cx="16008688" cy="2000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First Steps: Understanding File, Path, Files</a:t>
            </a:r>
            <a:b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 Paths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2569F9-BE2C-0A8B-ECFB-EB0191BF3FE5}"/>
              </a:ext>
            </a:extLst>
          </p:cNvPr>
          <p:cNvSpPr/>
          <p:nvPr/>
        </p:nvSpPr>
        <p:spPr>
          <a:xfrm>
            <a:off x="952501" y="8001886"/>
            <a:ext cx="34782670" cy="1188017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File class and the </a:t>
            </a:r>
            <a:r>
              <a:rPr lang="en-US" sz="6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FileReader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class have been part of Java, since version 1.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</a:t>
            </a:r>
            <a:r>
              <a:rPr lang="en-US" sz="6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FileReader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class implements the </a:t>
            </a:r>
            <a:r>
              <a:rPr lang="en-US" sz="6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AutoCloseable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interface, through it's parent class, Reader.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class opens a file resource implicitly. 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 contrast, when you create an instance of a File, you aren't actually opening that file.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Instead, you're working with something called a file handler, that lets you perform OS-like operations.</a:t>
            </a:r>
          </a:p>
        </p:txBody>
      </p:sp>
      <p:pic>
        <p:nvPicPr>
          <p:cNvPr id="3" name="Picture 2" descr="A computer screen shot of a computer screen&#10;&#10;Description automatically generated">
            <a:extLst>
              <a:ext uri="{FF2B5EF4-FFF2-40B4-BE49-F238E27FC236}">
                <a16:creationId xmlns:a16="http://schemas.microsoft.com/office/drawing/2014/main" id="{5F39B62D-B1B5-BB90-0701-B0C6D96AEF7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7" t="6668" r="2843" b="6495"/>
          <a:stretch/>
        </p:blipFill>
        <p:spPr>
          <a:xfrm>
            <a:off x="11108724" y="2596945"/>
            <a:ext cx="14358552" cy="5125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365155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CD70D-41E0-74F1-78BA-8ED3C4C9A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>
            <a:extLst>
              <a:ext uri="{FF2B5EF4-FFF2-40B4-BE49-F238E27FC236}">
                <a16:creationId xmlns:a16="http://schemas.microsoft.com/office/drawing/2014/main" id="{6C2DB0D2-2580-74D1-9952-F22CD3F75B85}"/>
              </a:ext>
            </a:extLst>
          </p:cNvPr>
          <p:cNvSpPr/>
          <p:nvPr/>
        </p:nvSpPr>
        <p:spPr>
          <a:xfrm>
            <a:off x="952498" y="459786"/>
            <a:ext cx="18662160" cy="181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File Handle vs. File Resource</a:t>
            </a:r>
          </a:p>
        </p:txBody>
      </p:sp>
      <p:sp>
        <p:nvSpPr>
          <p:cNvPr id="128" name="Shape 128">
            <a:extLst>
              <a:ext uri="{FF2B5EF4-FFF2-40B4-BE49-F238E27FC236}">
                <a16:creationId xmlns:a16="http://schemas.microsoft.com/office/drawing/2014/main" id="{704185CF-BF19-E11B-BFA2-20D62B163C11}"/>
              </a:ext>
            </a:extLst>
          </p:cNvPr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>
            <a:extLst>
              <a:ext uri="{FF2B5EF4-FFF2-40B4-BE49-F238E27FC236}">
                <a16:creationId xmlns:a16="http://schemas.microsoft.com/office/drawing/2014/main" id="{BB79B8AA-CAF7-BB8A-5D0C-828BD4E85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>
            <a:extLst>
              <a:ext uri="{FF2B5EF4-FFF2-40B4-BE49-F238E27FC236}">
                <a16:creationId xmlns:a16="http://schemas.microsoft.com/office/drawing/2014/main" id="{43A9BBFD-03F9-9BDF-583F-900022D2CE59}"/>
              </a:ext>
            </a:extLst>
          </p:cNvPr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>
            <a:extLst>
              <a:ext uri="{FF2B5EF4-FFF2-40B4-BE49-F238E27FC236}">
                <a16:creationId xmlns:a16="http://schemas.microsoft.com/office/drawing/2014/main" id="{11120C95-6D5E-C43A-1C9C-BC3EBD194343}"/>
              </a:ext>
            </a:extLst>
          </p:cNvPr>
          <p:cNvSpPr/>
          <p:nvPr/>
        </p:nvSpPr>
        <p:spPr>
          <a:xfrm>
            <a:off x="952500" y="18489726"/>
            <a:ext cx="16008688" cy="2000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First Steps: Understanding File, Path, Files</a:t>
            </a:r>
            <a:b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 Paths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12B89B-0506-564F-64D8-66C15474B8C7}"/>
              </a:ext>
            </a:extLst>
          </p:cNvPr>
          <p:cNvSpPr/>
          <p:nvPr/>
        </p:nvSpPr>
        <p:spPr>
          <a:xfrm>
            <a:off x="952501" y="4285904"/>
            <a:ext cx="34782670" cy="1188017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file handle is a reference to a file that is used by the operating system to keep track of the file.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It's an abstract representation of the file, and it does not contain any of the actual data from the file.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file resource, on the other hand, is the actual data from the file.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 is stored on disk, and it can be accessed by the operating system, and by applications.</a:t>
            </a:r>
          </a:p>
        </p:txBody>
      </p:sp>
    </p:spTree>
    <p:extLst>
      <p:ext uri="{BB962C8B-B14F-4D97-AF65-F5344CB8AC3E}">
        <p14:creationId xmlns:p14="http://schemas.microsoft.com/office/powerpoint/2010/main" val="616649703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6E28B-B0B5-BEA0-D8E7-0ECC5A12D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>
            <a:extLst>
              <a:ext uri="{FF2B5EF4-FFF2-40B4-BE49-F238E27FC236}">
                <a16:creationId xmlns:a16="http://schemas.microsoft.com/office/drawing/2014/main" id="{A80D31B4-05A6-1102-9306-A3F92AC2C14B}"/>
              </a:ext>
            </a:extLst>
          </p:cNvPr>
          <p:cNvSpPr/>
          <p:nvPr/>
        </p:nvSpPr>
        <p:spPr>
          <a:xfrm>
            <a:off x="952498" y="459786"/>
            <a:ext cx="13732927" cy="181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File System Concepts</a:t>
            </a:r>
          </a:p>
        </p:txBody>
      </p:sp>
      <p:sp>
        <p:nvSpPr>
          <p:cNvPr id="128" name="Shape 128">
            <a:extLst>
              <a:ext uri="{FF2B5EF4-FFF2-40B4-BE49-F238E27FC236}">
                <a16:creationId xmlns:a16="http://schemas.microsoft.com/office/drawing/2014/main" id="{521C0B9A-1850-E19B-9DE7-113F455E9F21}"/>
              </a:ext>
            </a:extLst>
          </p:cNvPr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>
            <a:extLst>
              <a:ext uri="{FF2B5EF4-FFF2-40B4-BE49-F238E27FC236}">
                <a16:creationId xmlns:a16="http://schemas.microsoft.com/office/drawing/2014/main" id="{569E8E49-A4DB-E38F-E0B7-92FD5E1E9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>
            <a:extLst>
              <a:ext uri="{FF2B5EF4-FFF2-40B4-BE49-F238E27FC236}">
                <a16:creationId xmlns:a16="http://schemas.microsoft.com/office/drawing/2014/main" id="{FE5F020F-0066-C204-EA4D-F3CBE82B3BE8}"/>
              </a:ext>
            </a:extLst>
          </p:cNvPr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>
            <a:extLst>
              <a:ext uri="{FF2B5EF4-FFF2-40B4-BE49-F238E27FC236}">
                <a16:creationId xmlns:a16="http://schemas.microsoft.com/office/drawing/2014/main" id="{27B7CEE3-E15C-BE96-41B0-8CD088535A1E}"/>
              </a:ext>
            </a:extLst>
          </p:cNvPr>
          <p:cNvSpPr/>
          <p:nvPr/>
        </p:nvSpPr>
        <p:spPr>
          <a:xfrm>
            <a:off x="952500" y="18489726"/>
            <a:ext cx="16008688" cy="2000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First Steps: Understanding File, Path, Files</a:t>
            </a:r>
            <a:b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 Paths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A50EA3-8B0C-C031-7F66-037A62C59102}"/>
              </a:ext>
            </a:extLst>
          </p:cNvPr>
          <p:cNvSpPr/>
          <p:nvPr/>
        </p:nvSpPr>
        <p:spPr>
          <a:xfrm>
            <a:off x="952501" y="4285904"/>
            <a:ext cx="34782670" cy="13645400"/>
          </a:xfrm>
          <a:prstGeom prst="rect">
            <a:avLst/>
          </a:prstGeom>
        </p:spPr>
        <p:txBody>
          <a:bodyPr wrap="square">
            <a:normAutofit lnSpcReduction="10000"/>
          </a:bodyPr>
          <a:lstStyle/>
          <a:p>
            <a:pPr marL="857250" indent="-857250" algn="l">
              <a:spcAft>
                <a:spcPts val="5022"/>
              </a:spcAft>
              <a:buFont typeface="Arial" panose="020B0604020202020204" pitchFamily="34" charset="0"/>
              <a:buChar char="•"/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</a:t>
            </a:r>
            <a:r>
              <a:rPr lang="en-US" sz="6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directory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(or folder) is a file system container for other directories or files.</a:t>
            </a:r>
          </a:p>
          <a:p>
            <a:pPr marL="857250" indent="-857250" algn="l">
              <a:spcAft>
                <a:spcPts val="5022"/>
              </a:spcAft>
              <a:buFont typeface="Arial" panose="020B0604020202020204" pitchFamily="34" charset="0"/>
              <a:buChar char="•"/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</a:t>
            </a:r>
            <a:r>
              <a:rPr lang="en-US" sz="6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path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is either a directory or a filename and may include information about the parent directories or folders.</a:t>
            </a:r>
          </a:p>
          <a:p>
            <a:pPr marL="857250" indent="-857250" algn="l">
              <a:spcAft>
                <a:spcPts val="5022"/>
              </a:spcAft>
              <a:buFont typeface="Arial" panose="020B0604020202020204" pitchFamily="34" charset="0"/>
              <a:buChar char="•"/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</a:t>
            </a:r>
            <a:r>
              <a:rPr lang="en-US" sz="6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root directory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is the top-level directory in a file system.</a:t>
            </a:r>
          </a:p>
          <a:p>
            <a:pPr marL="857250" indent="-857250" algn="l">
              <a:spcAft>
                <a:spcPts val="5022"/>
              </a:spcAft>
              <a:buFont typeface="Arial" panose="020B0604020202020204" pitchFamily="34" charset="0"/>
              <a:buChar char="•"/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</a:t>
            </a:r>
            <a:r>
              <a:rPr lang="en-US" sz="6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current working directory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is the directory that the current process is working in or running from.</a:t>
            </a:r>
          </a:p>
          <a:p>
            <a:pPr marL="857250" indent="-857250" algn="l">
              <a:spcAft>
                <a:spcPts val="5022"/>
              </a:spcAft>
              <a:buFont typeface="Arial" panose="020B0604020202020204" pitchFamily="34" charset="0"/>
              <a:buChar char="•"/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 </a:t>
            </a:r>
            <a:r>
              <a:rPr lang="en-US" sz="6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absolute </a:t>
            </a:r>
            <a:r>
              <a:rPr lang="en-US" sz="64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path</a:t>
            </a:r>
            <a:r>
              <a:rPr lang="en-US" sz="6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includes 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root (by either starting with / or optionally, C:\ in windows, where C is the root identifier.</a:t>
            </a:r>
          </a:p>
          <a:p>
            <a:pPr marL="857250" indent="-857250" algn="l">
              <a:spcAft>
                <a:spcPts val="5022"/>
              </a:spcAft>
              <a:buFont typeface="Arial" panose="020B0604020202020204" pitchFamily="34" charset="0"/>
              <a:buChar char="•"/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</a:t>
            </a:r>
            <a:r>
              <a:rPr lang="en-US" sz="6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relative path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defines a path relative to the current working directory, and therefore would not start with /, but may optionally start with a dot . then a file separator character.</a:t>
            </a:r>
          </a:p>
        </p:txBody>
      </p:sp>
    </p:spTree>
    <p:extLst>
      <p:ext uri="{BB962C8B-B14F-4D97-AF65-F5344CB8AC3E}">
        <p14:creationId xmlns:p14="http://schemas.microsoft.com/office/powerpoint/2010/main" val="3998638378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A9250-6760-0FBA-2EEC-CB5685E8B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>
            <a:extLst>
              <a:ext uri="{FF2B5EF4-FFF2-40B4-BE49-F238E27FC236}">
                <a16:creationId xmlns:a16="http://schemas.microsoft.com/office/drawing/2014/main" id="{1B7C4219-893E-CFF4-0F3E-97B7A70A0D46}"/>
              </a:ext>
            </a:extLst>
          </p:cNvPr>
          <p:cNvSpPr/>
          <p:nvPr/>
        </p:nvSpPr>
        <p:spPr>
          <a:xfrm>
            <a:off x="952498" y="459786"/>
            <a:ext cx="13170272" cy="181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Updated (jdk7, nio2)</a:t>
            </a:r>
          </a:p>
        </p:txBody>
      </p:sp>
      <p:sp>
        <p:nvSpPr>
          <p:cNvPr id="128" name="Shape 128">
            <a:extLst>
              <a:ext uri="{FF2B5EF4-FFF2-40B4-BE49-F238E27FC236}">
                <a16:creationId xmlns:a16="http://schemas.microsoft.com/office/drawing/2014/main" id="{99373CC1-331F-541A-DF0B-D3062DE2734B}"/>
              </a:ext>
            </a:extLst>
          </p:cNvPr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>
            <a:extLst>
              <a:ext uri="{FF2B5EF4-FFF2-40B4-BE49-F238E27FC236}">
                <a16:creationId xmlns:a16="http://schemas.microsoft.com/office/drawing/2014/main" id="{C490AA89-5848-FCEE-42C1-6C7A1DADA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>
            <a:extLst>
              <a:ext uri="{FF2B5EF4-FFF2-40B4-BE49-F238E27FC236}">
                <a16:creationId xmlns:a16="http://schemas.microsoft.com/office/drawing/2014/main" id="{3126B871-5D9C-A09C-62DE-7B48ADBF6D5F}"/>
              </a:ext>
            </a:extLst>
          </p:cNvPr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>
            <a:extLst>
              <a:ext uri="{FF2B5EF4-FFF2-40B4-BE49-F238E27FC236}">
                <a16:creationId xmlns:a16="http://schemas.microsoft.com/office/drawing/2014/main" id="{8ED027A9-5303-B6A7-70A6-CEEF014ABEE8}"/>
              </a:ext>
            </a:extLst>
          </p:cNvPr>
          <p:cNvSpPr/>
          <p:nvPr/>
        </p:nvSpPr>
        <p:spPr>
          <a:xfrm>
            <a:off x="952500" y="18489726"/>
            <a:ext cx="16008688" cy="2000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First Steps: Understanding File, Path, Files</a:t>
            </a:r>
            <a:b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 Paths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600165-833E-6FFB-E9E5-4CD5B9FABEA1}"/>
              </a:ext>
            </a:extLst>
          </p:cNvPr>
          <p:cNvSpPr/>
          <p:nvPr/>
        </p:nvSpPr>
        <p:spPr>
          <a:xfrm>
            <a:off x="952501" y="8001886"/>
            <a:ext cx="34782670" cy="1188017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Path is an interface, and not a class, like the File class was.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Paths class consists exclusively of static methods that return a Path instance.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Files class, on the other hand, has many static methods that perform operations on files and directories.</a:t>
            </a:r>
          </a:p>
        </p:txBody>
      </p:sp>
      <p:pic>
        <p:nvPicPr>
          <p:cNvPr id="5" name="Picture 4" descr="A blue rectangles with white text&#10;&#10;Description automatically generated">
            <a:extLst>
              <a:ext uri="{FF2B5EF4-FFF2-40B4-BE49-F238E27FC236}">
                <a16:creationId xmlns:a16="http://schemas.microsoft.com/office/drawing/2014/main" id="{F910B669-4954-A2A2-83F9-B0DA2ED91FF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" t="5248" r="1767" b="11474"/>
          <a:stretch/>
        </p:blipFill>
        <p:spPr>
          <a:xfrm>
            <a:off x="11437688" y="2596945"/>
            <a:ext cx="13700624" cy="5125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972600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4F811-BD76-5C4E-DC83-F41A81E6C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>
            <a:extLst>
              <a:ext uri="{FF2B5EF4-FFF2-40B4-BE49-F238E27FC236}">
                <a16:creationId xmlns:a16="http://schemas.microsoft.com/office/drawing/2014/main" id="{8EEC20A6-E494-AB08-BF33-A119DFA7D50A}"/>
              </a:ext>
            </a:extLst>
          </p:cNvPr>
          <p:cNvSpPr/>
          <p:nvPr/>
        </p:nvSpPr>
        <p:spPr>
          <a:xfrm>
            <a:off x="952498" y="459786"/>
            <a:ext cx="8963992" cy="181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IO - Using File</a:t>
            </a:r>
          </a:p>
        </p:txBody>
      </p:sp>
      <p:sp>
        <p:nvSpPr>
          <p:cNvPr id="128" name="Shape 128">
            <a:extLst>
              <a:ext uri="{FF2B5EF4-FFF2-40B4-BE49-F238E27FC236}">
                <a16:creationId xmlns:a16="http://schemas.microsoft.com/office/drawing/2014/main" id="{D17803CF-25CD-15A1-1CB8-0F114A54DD38}"/>
              </a:ext>
            </a:extLst>
          </p:cNvPr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>
            <a:extLst>
              <a:ext uri="{FF2B5EF4-FFF2-40B4-BE49-F238E27FC236}">
                <a16:creationId xmlns:a16="http://schemas.microsoft.com/office/drawing/2014/main" id="{86BB35F7-A2D0-CA86-BFEB-D2D58AF27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>
            <a:extLst>
              <a:ext uri="{FF2B5EF4-FFF2-40B4-BE49-F238E27FC236}">
                <a16:creationId xmlns:a16="http://schemas.microsoft.com/office/drawing/2014/main" id="{C5853D7A-DC6E-140D-0CC9-A87F0EFB2B5C}"/>
              </a:ext>
            </a:extLst>
          </p:cNvPr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>
            <a:extLst>
              <a:ext uri="{FF2B5EF4-FFF2-40B4-BE49-F238E27FC236}">
                <a16:creationId xmlns:a16="http://schemas.microsoft.com/office/drawing/2014/main" id="{35C4EC23-A425-3AF8-0D98-765AE7884540}"/>
              </a:ext>
            </a:extLst>
          </p:cNvPr>
          <p:cNvSpPr/>
          <p:nvPr/>
        </p:nvSpPr>
        <p:spPr>
          <a:xfrm>
            <a:off x="952500" y="18489726"/>
            <a:ext cx="16008688" cy="2000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First Steps: Understanding File, Path, Files</a:t>
            </a:r>
            <a:b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 Paths</a:t>
            </a:r>
          </a:p>
        </p:txBody>
      </p:sp>
      <p:pic>
        <p:nvPicPr>
          <p:cNvPr id="4" name="Picture 3" descr="A diagram of a cloud&#10;&#10;Description automatically generated">
            <a:extLst>
              <a:ext uri="{FF2B5EF4-FFF2-40B4-BE49-F238E27FC236}">
                <a16:creationId xmlns:a16="http://schemas.microsoft.com/office/drawing/2014/main" id="{0AE6A8BF-7042-A5EC-D4AC-85FBE2E2B6E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2" t="1988" r="16399" b="1928"/>
          <a:stretch/>
        </p:blipFill>
        <p:spPr>
          <a:xfrm>
            <a:off x="24750584" y="2799569"/>
            <a:ext cx="10762163" cy="1485284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401C350-2CCF-90F1-38B4-0BCAAC64D6EB}"/>
              </a:ext>
            </a:extLst>
          </p:cNvPr>
          <p:cNvSpPr/>
          <p:nvPr/>
        </p:nvSpPr>
        <p:spPr>
          <a:xfrm>
            <a:off x="952497" y="4285905"/>
            <a:ext cx="23390314" cy="1188017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When you use the File class, you get an instance, with a File constructor, and then you execute a method on that instance.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Here, behavior is a member of the instance itself.</a:t>
            </a:r>
          </a:p>
        </p:txBody>
      </p:sp>
    </p:spTree>
    <p:extLst>
      <p:ext uri="{BB962C8B-B14F-4D97-AF65-F5344CB8AC3E}">
        <p14:creationId xmlns:p14="http://schemas.microsoft.com/office/powerpoint/2010/main" val="3886225785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A3FA4-38AE-980D-8C78-DD28709C9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>
            <a:extLst>
              <a:ext uri="{FF2B5EF4-FFF2-40B4-BE49-F238E27FC236}">
                <a16:creationId xmlns:a16="http://schemas.microsoft.com/office/drawing/2014/main" id="{5580211D-8B2C-9381-5443-B46E72346FA2}"/>
              </a:ext>
            </a:extLst>
          </p:cNvPr>
          <p:cNvSpPr/>
          <p:nvPr/>
        </p:nvSpPr>
        <p:spPr>
          <a:xfrm>
            <a:off x="952498" y="459786"/>
            <a:ext cx="27735157" cy="181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NIO2 - Using Files and Path (instead of File)</a:t>
            </a:r>
          </a:p>
        </p:txBody>
      </p:sp>
      <p:sp>
        <p:nvSpPr>
          <p:cNvPr id="128" name="Shape 128">
            <a:extLst>
              <a:ext uri="{FF2B5EF4-FFF2-40B4-BE49-F238E27FC236}">
                <a16:creationId xmlns:a16="http://schemas.microsoft.com/office/drawing/2014/main" id="{AA02C434-AE3E-C448-4AC6-48DCAE34F001}"/>
              </a:ext>
            </a:extLst>
          </p:cNvPr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>
            <a:extLst>
              <a:ext uri="{FF2B5EF4-FFF2-40B4-BE49-F238E27FC236}">
                <a16:creationId xmlns:a16="http://schemas.microsoft.com/office/drawing/2014/main" id="{5D880A6F-FAD4-3479-5130-35ED59FFE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>
            <a:extLst>
              <a:ext uri="{FF2B5EF4-FFF2-40B4-BE49-F238E27FC236}">
                <a16:creationId xmlns:a16="http://schemas.microsoft.com/office/drawing/2014/main" id="{29008244-DE99-D601-3BE2-BF8DDA175DE2}"/>
              </a:ext>
            </a:extLst>
          </p:cNvPr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>
            <a:extLst>
              <a:ext uri="{FF2B5EF4-FFF2-40B4-BE49-F238E27FC236}">
                <a16:creationId xmlns:a16="http://schemas.microsoft.com/office/drawing/2014/main" id="{B22B3C49-F0BE-A991-64E8-9479E443E80F}"/>
              </a:ext>
            </a:extLst>
          </p:cNvPr>
          <p:cNvSpPr/>
          <p:nvPr/>
        </p:nvSpPr>
        <p:spPr>
          <a:xfrm>
            <a:off x="952500" y="18489726"/>
            <a:ext cx="16008688" cy="2000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First Steps: Understanding File, Path, Files</a:t>
            </a:r>
            <a:b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 Paths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DCE3D3-CD3E-B8B8-DE3B-BCB3394C719F}"/>
              </a:ext>
            </a:extLst>
          </p:cNvPr>
          <p:cNvSpPr/>
          <p:nvPr/>
        </p:nvSpPr>
        <p:spPr>
          <a:xfrm>
            <a:off x="952497" y="4285905"/>
            <a:ext cx="22611837" cy="1188017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we look at how to use the NIO.2 types to do something, we first have to get an instance of Path.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use factory methods on the Path class, or the Paths class, or other types I'll talk about later.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then call the static method on the Files class, to do something on the path instance passed as an argument.</a:t>
            </a:r>
          </a:p>
        </p:txBody>
      </p:sp>
      <p:pic>
        <p:nvPicPr>
          <p:cNvPr id="6" name="Picture 5" descr="A diagram of a path&#10;&#10;Description automatically generated">
            <a:extLst>
              <a:ext uri="{FF2B5EF4-FFF2-40B4-BE49-F238E27FC236}">
                <a16:creationId xmlns:a16="http://schemas.microsoft.com/office/drawing/2014/main" id="{B783F570-EB09-9256-52C9-807782F4FE3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4" t="5391" r="6074" b="1728"/>
          <a:stretch/>
        </p:blipFill>
        <p:spPr>
          <a:xfrm>
            <a:off x="23909752" y="3110825"/>
            <a:ext cx="11825416" cy="1435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035554"/>
      </p:ext>
    </p:extLst>
  </p:cSld>
  <p:clrMapOvr>
    <a:masterClrMapping/>
  </p:clrMapOvr>
  <p:transition spd="slow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646</TotalTime>
  <Words>571</Words>
  <Application>Microsoft Office PowerPoint</Application>
  <PresentationFormat>Custom</PresentationFormat>
  <Paragraphs>41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Helvetica</vt:lpstr>
      <vt:lpstr>Helvetica Light</vt:lpstr>
      <vt:lpstr>Helvetica Neue</vt:lpstr>
      <vt:lpstr>Open Sans</vt:lpstr>
      <vt:lpstr>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Gigabyte</dc:creator>
  <cp:lastModifiedBy>Keane Hubert Ang</cp:lastModifiedBy>
  <cp:revision>169</cp:revision>
  <dcterms:modified xsi:type="dcterms:W3CDTF">2024-12-13T04:08:13Z</dcterms:modified>
</cp:coreProperties>
</file>