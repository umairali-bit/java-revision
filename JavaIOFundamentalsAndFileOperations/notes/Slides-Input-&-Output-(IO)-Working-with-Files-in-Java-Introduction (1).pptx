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</p:sldIdLst>
  <p:sldSz cx="36576000" cy="20574000"/>
  <p:notesSz cx="6858000" cy="9144000"/>
  <p:defaultTextStyle>
    <a:defPPr marL="0" marR="0" indent="0" algn="l" defTabSz="1369222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69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34230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68461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102691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1369222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711528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2053834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2396140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2738446" algn="ctr" defTabSz="123610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7488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30374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1pPr>
    <a:lvl2pPr indent="34230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2pPr>
    <a:lvl3pPr indent="68461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3pPr>
    <a:lvl4pPr indent="102691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4pPr>
    <a:lvl5pPr indent="1369222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5pPr>
    <a:lvl6pPr indent="1711528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6pPr>
    <a:lvl7pPr indent="2053834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7pPr>
    <a:lvl8pPr indent="2396140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8pPr>
    <a:lvl9pPr indent="2738446" defTabSz="684612" latinLnBrk="0">
      <a:lnSpc>
        <a:spcPct val="117999"/>
      </a:lnSpc>
      <a:defRPr sz="3294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A764-0AFB-DD46-755B-90E1AFCA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7913B-0BF4-66CC-1A19-ED147721C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14E59-EAA9-201B-9847-93593D191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0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FACC-2E24-B9BE-AD33-0D7906C2C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CA2E5-8566-E96B-F027-B4037442E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251D3-F12A-41EF-C1AE-D11C36AA7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1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4D43E-0179-4F22-0070-C13651B4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8C0B8-67C8-B70B-171B-5FDDD9BCE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37087-57F5-F5AA-F76B-5A89F2DEB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13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FAD3-6187-811A-05C8-56DB2BD42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80E8-8FEF-CE01-6572-4AD826353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E6405-5CFD-9386-FD5B-7FAF87086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98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8852-9235-A7A5-CF59-7A7323A7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40FE1-A22C-D02A-E471-AD17A1EEC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FE863-AE77-504B-5BBC-17110A29E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14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602F-1121-2F39-3859-7A4597C2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8A481-16C5-B8F0-A01C-9195C4889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36FE8-44D2-D579-FFA1-0DEAA025B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09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59E3-7F7B-4459-0F95-E9F2BDA5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8CCDB-E66B-79CC-BFD9-0FD84C5DE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73361-4203-7D4C-8565-C38921342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33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4688955" y="1009652"/>
            <a:ext cx="27203402" cy="1310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952500" y="14173202"/>
            <a:ext cx="34671000" cy="30099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952500" y="17278351"/>
            <a:ext cx="34671000" cy="23812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667000" y="6800852"/>
            <a:ext cx="31242000" cy="6972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19748973" y="1657352"/>
            <a:ext cx="14287502" cy="17259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2476503" y="1657350"/>
            <a:ext cx="15335250" cy="8420100"/>
          </a:xfrm>
          <a:prstGeom prst="rect">
            <a:avLst/>
          </a:prstGeom>
        </p:spPr>
        <p:txBody>
          <a:bodyPr anchor="b"/>
          <a:lstStyle>
            <a:lvl1pPr>
              <a:defRPr sz="12598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476503" y="10267950"/>
            <a:ext cx="15335250" cy="864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6600"/>
            </a:lvl1pPr>
            <a:lvl2pPr marL="0" indent="342882" algn="ctr">
              <a:spcBef>
                <a:spcPts val="0"/>
              </a:spcBef>
              <a:buSzTx/>
              <a:buNone/>
              <a:defRPr sz="6600"/>
            </a:lvl2pPr>
            <a:lvl3pPr marL="0" indent="685764" algn="ctr">
              <a:spcBef>
                <a:spcPts val="0"/>
              </a:spcBef>
              <a:buSzTx/>
              <a:buNone/>
              <a:defRPr sz="6600"/>
            </a:lvl3pPr>
            <a:lvl4pPr marL="0" indent="1028644" algn="ctr">
              <a:spcBef>
                <a:spcPts val="0"/>
              </a:spcBef>
              <a:buSzTx/>
              <a:buNone/>
              <a:defRPr sz="6600"/>
            </a:lvl4pPr>
            <a:lvl5pPr marL="0" indent="1371526" algn="ctr">
              <a:spcBef>
                <a:spcPts val="0"/>
              </a:spcBef>
              <a:buSzTx/>
              <a:buNone/>
              <a:defRPr sz="6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>
            <a:spLocks noGrp="1"/>
          </p:cNvSpPr>
          <p:nvPr>
            <p:ph type="pic" sz="half" idx="13"/>
          </p:nvPr>
        </p:nvSpPr>
        <p:spPr>
          <a:xfrm>
            <a:off x="19754850" y="4857753"/>
            <a:ext cx="14287500" cy="138112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body" sz="half" idx="1"/>
          </p:nvPr>
        </p:nvSpPr>
        <p:spPr>
          <a:xfrm>
            <a:off x="2533650" y="4857753"/>
            <a:ext cx="15011400" cy="13811250"/>
          </a:xfrm>
          <a:prstGeom prst="rect">
            <a:avLst/>
          </a:prstGeom>
        </p:spPr>
        <p:txBody>
          <a:bodyPr/>
          <a:lstStyle>
            <a:lvl1pPr marL="838154" indent="-838154">
              <a:spcBef>
                <a:spcPts val="6750"/>
              </a:spcBef>
              <a:defRPr sz="6750"/>
            </a:lvl1pPr>
            <a:lvl2pPr marL="1676310" indent="-838154">
              <a:spcBef>
                <a:spcPts val="6750"/>
              </a:spcBef>
              <a:defRPr sz="6750"/>
            </a:lvl2pPr>
            <a:lvl3pPr marL="2514464" indent="-838154">
              <a:spcBef>
                <a:spcPts val="6750"/>
              </a:spcBef>
              <a:defRPr sz="6750"/>
            </a:lvl3pPr>
            <a:lvl4pPr marL="3352620" indent="-838154">
              <a:spcBef>
                <a:spcPts val="6750"/>
              </a:spcBef>
              <a:defRPr sz="6750"/>
            </a:lvl4pPr>
            <a:lvl5pPr marL="4190774" indent="-838154">
              <a:spcBef>
                <a:spcPts val="6750"/>
              </a:spcBef>
              <a:defRPr sz="67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>
            <a:spLocks noGrp="1"/>
          </p:cNvSpPr>
          <p:nvPr>
            <p:ph type="body" idx="1"/>
          </p:nvPr>
        </p:nvSpPr>
        <p:spPr>
          <a:xfrm>
            <a:off x="2533650" y="2667001"/>
            <a:ext cx="31508700" cy="15220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/>
          </p:cNvSpPr>
          <p:nvPr>
            <p:ph type="pic" sz="quarter" idx="13"/>
          </p:nvPr>
        </p:nvSpPr>
        <p:spPr>
          <a:xfrm>
            <a:off x="23641053" y="105727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pic" sz="quarter" idx="14"/>
          </p:nvPr>
        </p:nvSpPr>
        <p:spPr>
          <a:xfrm>
            <a:off x="23641053" y="1695451"/>
            <a:ext cx="11106150" cy="83248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Shape 85"/>
          <p:cNvSpPr>
            <a:spLocks noGrp="1"/>
          </p:cNvSpPr>
          <p:nvPr>
            <p:ph type="pic" idx="15"/>
          </p:nvPr>
        </p:nvSpPr>
        <p:spPr>
          <a:xfrm>
            <a:off x="1809750" y="1695451"/>
            <a:ext cx="21259800" cy="1720215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body" sz="quarter" idx="13"/>
          </p:nvPr>
        </p:nvSpPr>
        <p:spPr>
          <a:xfrm>
            <a:off x="3581403" y="13430251"/>
            <a:ext cx="29432250" cy="97975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sz="quarter" idx="14"/>
          </p:nvPr>
        </p:nvSpPr>
        <p:spPr>
          <a:xfrm>
            <a:off x="3581403" y="9083251"/>
            <a:ext cx="29432250" cy="1302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pic" idx="13"/>
          </p:nvPr>
        </p:nvSpPr>
        <p:spPr>
          <a:xfrm>
            <a:off x="0" y="2"/>
            <a:ext cx="36576000" cy="2057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2533650" y="1428750"/>
            <a:ext cx="315087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2533650" y="4857753"/>
            <a:ext cx="31508700" cy="1381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7880931" y="19621502"/>
            <a:ext cx="795089" cy="6565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36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95244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904898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285734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3809796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4762244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571469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6667142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761959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8572040" marR="0" indent="-952448" algn="l" defTabSz="1238182" rtl="0" latinLnBrk="0">
        <a:lnSpc>
          <a:spcPct val="100000"/>
        </a:lnSpc>
        <a:spcBef>
          <a:spcPts val="8850"/>
        </a:spcBef>
        <a:spcAft>
          <a:spcPts val="0"/>
        </a:spcAft>
        <a:buClrTx/>
        <a:buSzPct val="75000"/>
        <a:buFontTx/>
        <a:buChar char="•"/>
        <a:tabLst/>
        <a:defRPr sz="7798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34288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68576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028644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1371526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714408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205729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2400170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2743052" algn="ctr" defTabSz="123818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2E65-6AC6-DE03-6D24-B3EE631F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9412E5E1-C450-1AB0-3761-3C866EB42AD3}"/>
              </a:ext>
            </a:extLst>
          </p:cNvPr>
          <p:cNvSpPr/>
          <p:nvPr/>
        </p:nvSpPr>
        <p:spPr>
          <a:xfrm>
            <a:off x="952498" y="459786"/>
            <a:ext cx="3302506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Communicating outside of the JVM using resources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E592BBA5-537F-F2C2-872B-659513ECBB49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077016D3-15E3-E1AF-4A17-4C3E0E985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44C11518-412C-F89D-A0B5-0E142EE50DC6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260DD2CB-BCA3-C942-1610-CA6C179C7656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3AC5AE-3956-2EA8-3F00-AB0B4D0A8E80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Resources can be files, network connections, database connections, streams, or sockets.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use these resources to interact with file systems, networks and databases, to exchange information.</a:t>
            </a:r>
          </a:p>
        </p:txBody>
      </p:sp>
    </p:spTree>
    <p:extLst>
      <p:ext uri="{BB962C8B-B14F-4D97-AF65-F5344CB8AC3E}">
        <p14:creationId xmlns:p14="http://schemas.microsoft.com/office/powerpoint/2010/main" val="983416450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956E-29BD-2A54-A1A4-799C4EF9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AC7A1FBC-265F-F126-9C1B-00E0119976AF}"/>
              </a:ext>
            </a:extLst>
          </p:cNvPr>
          <p:cNvSpPr/>
          <p:nvPr/>
        </p:nvSpPr>
        <p:spPr>
          <a:xfrm>
            <a:off x="952498" y="459786"/>
            <a:ext cx="12620443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Exception Handling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9CFD4323-3F35-C659-4CF1-0EFCD559BB57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34354378-3020-040B-E7AF-0BF9F3DCA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A755FB4D-F38E-0F8C-1764-BD31F80A7BAD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68F59FF2-F36A-CC0A-609E-9F10152F8EF1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3AD682-A80B-C0D3-455E-3F011045DB8A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you're dealing with external resources, exception handling becomes much more important.</a:t>
            </a:r>
          </a:p>
        </p:txBody>
      </p:sp>
    </p:spTree>
    <p:extLst>
      <p:ext uri="{BB962C8B-B14F-4D97-AF65-F5344CB8AC3E}">
        <p14:creationId xmlns:p14="http://schemas.microsoft.com/office/powerpoint/2010/main" val="213078822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06572-8739-CE2A-15C6-8D5BA9A81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C5C92D44-D5F5-47BB-61FE-4743D88CF751}"/>
              </a:ext>
            </a:extLst>
          </p:cNvPr>
          <p:cNvSpPr/>
          <p:nvPr/>
        </p:nvSpPr>
        <p:spPr>
          <a:xfrm>
            <a:off x="952498" y="694567"/>
            <a:ext cx="34942258" cy="150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8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really happens when you open a file from a Java application?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AA403D9D-0C28-566A-016C-5B2C722DC6A8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AD06DA58-26ED-2D10-953F-6BBFD3B9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7103FE96-109B-FCA2-A1C5-54E0728B854B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3A3DC703-3A0A-8DEF-8698-81D042826E11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5E7E8-31FD-9DD8-1C88-1DBFA5032A79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you instantiate one of Java's file access classes, Java will delegate to the operating system to open a file from the Operating Systems File System.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then performs some or all of the following steps.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 if the file exists.</a:t>
            </a:r>
            <a:endParaRPr lang="en-US" sz="6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the file exists, check if the user or process has the proper permissions for the type of access being requested.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this is true, then file metadata is retrieved, and a file descriptor is allocated. This descriptor is a handle to the opened file.</a:t>
            </a:r>
          </a:p>
        </p:txBody>
      </p:sp>
    </p:spTree>
    <p:extLst>
      <p:ext uri="{BB962C8B-B14F-4D97-AF65-F5344CB8AC3E}">
        <p14:creationId xmlns:p14="http://schemas.microsoft.com/office/powerpoint/2010/main" val="1798476672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73E7-A299-731F-F6FD-5FEB25CF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94CB8F0E-F3AB-159C-181F-F95C152FD6AD}"/>
              </a:ext>
            </a:extLst>
          </p:cNvPr>
          <p:cNvSpPr/>
          <p:nvPr/>
        </p:nvSpPr>
        <p:spPr>
          <a:xfrm>
            <a:off x="952498" y="694567"/>
            <a:ext cx="34942258" cy="150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8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really happens when you open a file from a Java application?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B84113F1-827D-25E4-8BB3-8557076D3B4C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8CCD498A-9B7D-540F-4FA0-9A378C990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920A9C47-B85F-2730-5720-FF2CEA7B96EF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7E6A63A0-E41D-E3E4-0468-E31DCCE20C26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44DA60-5FC7-7B07-0EBA-EF6805B9DBF8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entry is made in the file table or file control block table of the operating system, to track the opened file.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file may be locked.</a:t>
            </a:r>
          </a:p>
          <a:p>
            <a:pPr marL="857250" indent="-857250" algn="l">
              <a:spcAft>
                <a:spcPts val="5022"/>
              </a:spcAft>
              <a:buFont typeface="Arial" panose="020B0604020202020204" pitchFamily="34" charset="0"/>
              <a:buChar char="•"/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file may be buffered by the OS, meaning memory is allocated to cache all or part of the file contents, to optimize read and write operations.</a:t>
            </a:r>
          </a:p>
        </p:txBody>
      </p:sp>
    </p:spTree>
    <p:extLst>
      <p:ext uri="{BB962C8B-B14F-4D97-AF65-F5344CB8AC3E}">
        <p14:creationId xmlns:p14="http://schemas.microsoft.com/office/powerpoint/2010/main" val="38557877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2913-F3CF-0FDC-CE9A-162266EB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32054853-2D95-2912-A8AB-545359D09E1E}"/>
              </a:ext>
            </a:extLst>
          </p:cNvPr>
          <p:cNvSpPr/>
          <p:nvPr/>
        </p:nvSpPr>
        <p:spPr>
          <a:xfrm>
            <a:off x="952498" y="459786"/>
            <a:ext cx="1974899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Closing an open File Resource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85B70350-0755-9B10-AD9B-655881B66CF5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7ADDDAEE-187F-5D8B-D933-A5E34BBCF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51FF2941-5942-5835-95CF-7199524569F9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425564C9-F7E0-FE23-2B1A-60B8D6699435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38C5A7-25E3-66A4-72DD-1A3D19A87801}"/>
              </a:ext>
            </a:extLst>
          </p:cNvPr>
          <p:cNvSpPr/>
          <p:nvPr/>
        </p:nvSpPr>
        <p:spPr>
          <a:xfrm>
            <a:off x="952501" y="4285904"/>
            <a:ext cx="34782670" cy="1188017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Many of the methods in Java make opening a file look like instantiating any other object.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don't have to call open on a file, so it's easy to forget that you've really opened a resource.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Closing the file handle will free up the memory used to store any file related data and allow other processes to access the file.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Fortunately, most of the Java classes you'll use to interact with files, also implement an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AutoCloseable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interface, which makes closing resources seamless.</a:t>
            </a:r>
          </a:p>
        </p:txBody>
      </p:sp>
    </p:spTree>
    <p:extLst>
      <p:ext uri="{BB962C8B-B14F-4D97-AF65-F5344CB8AC3E}">
        <p14:creationId xmlns:p14="http://schemas.microsoft.com/office/powerpoint/2010/main" val="2490702582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A320-5F5A-BD3F-3D71-839996BC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D109A8AD-C04B-1733-E91A-A5DDC9401A8C}"/>
              </a:ext>
            </a:extLst>
          </p:cNvPr>
          <p:cNvSpPr/>
          <p:nvPr/>
        </p:nvSpPr>
        <p:spPr>
          <a:xfrm>
            <a:off x="952498" y="459786"/>
            <a:ext cx="9194825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IO, NIO, NIO.2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AB5923EA-75C0-214E-0B84-D222DF849543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42C9D9E5-8D49-D9AD-8129-77DAFF3FE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4990154D-13A7-71E9-94B7-84D4C7511FE6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A0DAAD11-456D-79AE-E5C8-2C9798605799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FD98C0-62A5-FEA8-E86E-12F19B73501A}"/>
              </a:ext>
            </a:extLst>
          </p:cNvPr>
          <p:cNvSpPr/>
          <p:nvPr/>
        </p:nvSpPr>
        <p:spPr>
          <a:xfrm>
            <a:off x="952501" y="4285904"/>
            <a:ext cx="17520850" cy="11880176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has what seems like a very confusing and large series of classes, in many packages, to support input/output.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I'll be covering the most commonly used types but first let's talk about Java's somewhat confusing terminology which includes IO, NIO and NIO.2.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First, IO is a term for input/output, and java.io is a package that contains the original set of types that support reading and writing data from external resources.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3F79A17-579F-B729-049C-1D7C0953C1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" t="6223" r="2525" b="3565"/>
          <a:stretch/>
        </p:blipFill>
        <p:spPr>
          <a:xfrm>
            <a:off x="19201828" y="5350475"/>
            <a:ext cx="16533340" cy="1005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3163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ACED5-8707-4DE9-5B80-3B45EDA07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>
            <a:extLst>
              <a:ext uri="{FF2B5EF4-FFF2-40B4-BE49-F238E27FC236}">
                <a16:creationId xmlns:a16="http://schemas.microsoft.com/office/drawing/2014/main" id="{2FE48302-D721-F670-6DF4-1B07073EED41}"/>
              </a:ext>
            </a:extLst>
          </p:cNvPr>
          <p:cNvSpPr/>
          <p:nvPr/>
        </p:nvSpPr>
        <p:spPr>
          <a:xfrm>
            <a:off x="952498" y="459786"/>
            <a:ext cx="9194825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6200" tIns="76200" rIns="76200" bIns="762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IO, NIO, NIO.2</a:t>
            </a:r>
          </a:p>
        </p:txBody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30E33BC9-B43F-7AB4-2BE1-CA6B0335C5BE}"/>
              </a:ext>
            </a:extLst>
          </p:cNvPr>
          <p:cNvSpPr/>
          <p:nvPr/>
        </p:nvSpPr>
        <p:spPr>
          <a:xfrm>
            <a:off x="952500" y="18210515"/>
            <a:ext cx="34782668" cy="2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pic>
        <p:nvPicPr>
          <p:cNvPr id="129" name="Logo.png">
            <a:extLst>
              <a:ext uri="{FF2B5EF4-FFF2-40B4-BE49-F238E27FC236}">
                <a16:creationId xmlns:a16="http://schemas.microsoft.com/office/drawing/2014/main" id="{9679E9D6-BDAD-58DE-03B5-68D36D723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0974" y="18489726"/>
            <a:ext cx="6321552" cy="1392336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>
            <a:extLst>
              <a:ext uri="{FF2B5EF4-FFF2-40B4-BE49-F238E27FC236}">
                <a16:creationId xmlns:a16="http://schemas.microsoft.com/office/drawing/2014/main" id="{8E0A8717-FA08-CA96-992F-6D3A49E9AE0D}"/>
              </a:ext>
            </a:extLst>
          </p:cNvPr>
          <p:cNvSpPr/>
          <p:nvPr/>
        </p:nvSpPr>
        <p:spPr>
          <a:xfrm flipV="1">
            <a:off x="952499" y="2203340"/>
            <a:ext cx="34782670" cy="38132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76200" tIns="76200" rIns="76200" bIns="76200" anchor="ctr"/>
          <a:lstStyle/>
          <a:p>
            <a:pPr>
              <a:defRPr sz="3200"/>
            </a:pPr>
            <a:endParaRPr sz="4800"/>
          </a:p>
        </p:txBody>
      </p:sp>
      <p:sp>
        <p:nvSpPr>
          <p:cNvPr id="10" name="Shape 131">
            <a:extLst>
              <a:ext uri="{FF2B5EF4-FFF2-40B4-BE49-F238E27FC236}">
                <a16:creationId xmlns:a16="http://schemas.microsoft.com/office/drawing/2014/main" id="{E1F3C3A5-D4E5-FC03-E5AC-EC9C0C8C2B0E}"/>
              </a:ext>
            </a:extLst>
          </p:cNvPr>
          <p:cNvSpPr/>
          <p:nvPr/>
        </p:nvSpPr>
        <p:spPr>
          <a:xfrm>
            <a:off x="952500" y="18489726"/>
            <a:ext cx="16008688" cy="1308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6200" tIns="76200" rIns="76200" bIns="762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4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C11FB-3E82-52C5-C462-2522580272CF}"/>
              </a:ext>
            </a:extLst>
          </p:cNvPr>
          <p:cNvSpPr/>
          <p:nvPr/>
        </p:nvSpPr>
        <p:spPr>
          <a:xfrm>
            <a:off x="952501" y="4285904"/>
            <a:ext cx="17520850" cy="11880176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NIO was introduced as Non-blocking IO, with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java.nio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package in Java 1.4, as well as a few other related packages.  The communication with resources is facilitated through specific types of Channels, and the data stored in containers called Buffers, when exchanged.</a:t>
            </a:r>
          </a:p>
          <a:p>
            <a:pPr algn="l">
              <a:spcAft>
                <a:spcPts val="5022"/>
              </a:spcAft>
            </a:pP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NIO.2 stands for New IO, and is a term that came into being with Java 1.7, emphasizing significant improvements to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java.nio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package, most importantly the </a:t>
            </a:r>
            <a:r>
              <a:rPr lang="en-US" sz="6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java.nio.file</a:t>
            </a:r>
            <a:r>
              <a:rPr lang="en-US" sz="6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package and its types.</a:t>
            </a: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44DAFA6-082C-B5B4-60DF-E8926B18F5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" t="6223" r="2525" b="3565"/>
          <a:stretch/>
        </p:blipFill>
        <p:spPr>
          <a:xfrm>
            <a:off x="19201828" y="5350475"/>
            <a:ext cx="16533340" cy="1005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8500"/>
      </p:ext>
    </p:extLst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555</Words>
  <Application>Microsoft Office PowerPoint</Application>
  <PresentationFormat>Custom</PresentationFormat>
  <Paragraphs>41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Helvetica</vt:lpstr>
      <vt:lpstr>Helvetica Light</vt:lpstr>
      <vt:lpstr>Helvetica Neue</vt:lpstr>
      <vt:lpstr>Open Sans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Gigabyte</dc:creator>
  <cp:lastModifiedBy>Keane Hubert Ang</cp:lastModifiedBy>
  <cp:revision>169</cp:revision>
  <dcterms:modified xsi:type="dcterms:W3CDTF">2024-12-11T03:43:12Z</dcterms:modified>
</cp:coreProperties>
</file>